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大家好，今天分享的主题是面向 LLM 系统的仿真实验平台。会先做一个领域综述，再精读两篇 2026 年的代表工作：面向训练的 Phantora（NSDI'26）和面向推理的 Frontier。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报告分四部分：先综述，再分别精读两篇论文，最后对比总结。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核心矛盾：系统决策需要性能数据，但拿真实集群做实验成本极高、配置空间又是几十万级别。仿真平台的价值就是用单卡甚至纯 CPU 回答 what-if 问题。数字均取自两篇论文。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被仿真对象本身在快速演化：架构从 co-location 走向 PDD、AFD；优化之间相互耦合；workload 也从单轮问答变成 reasoning/agentic/RL。这是后面 Frontier 的核心动机。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把领域内工作梳理成五条路线。Frontier 属于第四条（DES+学习型预测器）但补全了架构覆盖；Phantora 开创第五条 hybrid execution-driven。网络仿真是正交的一层，packet-level 精但慢、flow-level 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这页是两篇论文动机实验的合集：失效不是理论担忧，而是实打实测出来的。根因都是仿真器试图用重实现或平均化去替代真实系统行为。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第一篇：Phantora。关键词是代码复用——不重写框架，让框架原样跑起来，只是底下的 GPU 和网络是假的。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架构：每个容器模拟一台 GPU 服务器，框架原样运行；三层拦截把计算、通信、时间全部接到中央仿真器；kernel 耗时由单块真实 GPU 现场 profile 并缓存。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拦截发生在三个层次：PyTorch 层拿语义信息，CUDA/NCCL 层兜底特殊 kernel 和通信。kernel 耗时用单卡 profile + 缓存解决。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两个关键机制：时间虚拟化让真实执行和事件仿真对齐——测 CPU time、松同步加回滚、GC；网络用 flow-level 仿真换速度，比 packet-level 的 SimAI 快两个数量级。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三个框架平均误差 2.9%–6.6%；对比 SimAI 误差更小且快 62–122 倍；case study 展示了吞吐+显存联合分析这个独有能力。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局限集中在 value-dependent 行为和控制流假设上；并且 Phantora 只做训练。推理侧的动态性完全不同——引出 Frontier。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第二篇：Frontier，面向现代推理 serving 形态的仿真器。三个 headline：吞吐误差小于 4%，E2E 延迟误差从 44.9% 降到 6.4%（co-location）、51.7% 降到 2.6%（PDD）。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Frontier 用动机实验证明三类失效：架构覆盖缺失、优化建模失真、算子和显存失准——而且误差会沿着决策链放大，最终选出违反 SLA 的配置。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设计上分四个平面；核心抽象是按角色组织的 Cluster Worker，attention 域和 FFN 域的并行独立分解，因此一套抽象能同时表达 co-location、PDD、AFD；DES 引擎用五类显式依赖事件串起跨 cluster 的执行。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保真度来自四件事：分层校准的算子预测器、把优化当行为建模的 runtime adapters、直接移植 vLLM/SGLang 调度逻辑、以及跨轮 session 状态。注意第三点和 Phantora 的哲学一致：复用真实代码。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三种架构全线个位数误差；对照组 Vidur、AIConfigurator 误差最高 45%、170%。KV budget 和优化行为的保真是精度的来源。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 use case 都是千卡规模、真实决策问题：配置搜索、异构分配、调度原型、RL 弹性。每个都给出了实测不可能低成本获得的结论。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两篇论文一个做训练一个做推理，路线不同，但共享同一个信条：保真度来自复用真实系统，成本控制来自单卡 profiling 加离散事件仿真。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三点总结：仿真已经能支撑可信决策；方法论关键词是复用与行为建模；我们自己的平台可以从开源的 Frontier 起步。欢迎讨论。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4624" y="1060704"/>
            <a:ext cx="1097280" cy="82296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1883664"/>
            <a:ext cx="-640080" cy="109728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1883664"/>
            <a:ext cx="548640" cy="91440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21824" y="2980944"/>
            <a:ext cx="822960" cy="109728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10544" y="2798064"/>
            <a:ext cx="-365760" cy="128016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4784" y="4078224"/>
            <a:ext cx="-1371600" cy="82296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44784" y="4078224"/>
            <a:ext cx="548640" cy="109728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73184" y="4901184"/>
            <a:ext cx="640080" cy="100584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93424" y="5175504"/>
            <a:ext cx="-1280160" cy="731520"/>
          </a:xfrm>
          <a:prstGeom prst="line">
            <a:avLst/>
          </a:prstGeom>
          <a:noFill/>
          <a:ln w="12700">
            <a:solidFill>
              <a:srgbClr val="2A35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1005840"/>
            <a:ext cx="109728" cy="10972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182880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0" y="2926080"/>
            <a:ext cx="109728" cy="109728"/>
          </a:xfrm>
          <a:prstGeom prst="ellipse">
            <a:avLst/>
          </a:prstGeom>
          <a:solidFill>
            <a:srgbClr val="3A4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2743200"/>
            <a:ext cx="109728" cy="10972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89920" y="402336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Shape 14"/>
          <p:cNvSpPr/>
          <p:nvPr/>
        </p:nvSpPr>
        <p:spPr>
          <a:xfrm>
            <a:off x="9418320" y="4846320"/>
            <a:ext cx="109728" cy="109728"/>
          </a:xfrm>
          <a:prstGeom prst="ellipse">
            <a:avLst/>
          </a:prstGeom>
          <a:solidFill>
            <a:srgbClr val="3A4A7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0" y="5120640"/>
            <a:ext cx="109728" cy="10972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5852160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932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 会 论 文 分 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1371600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LLM 系统的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仿真实验平台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" y="3456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从训练到推理的性能仿真：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领域综述 + 两篇代表工作精读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5166360" cy="1417320"/>
          </a:xfrm>
          <a:prstGeom prst="roundRect">
            <a:avLst>
              <a:gd name="adj" fmla="val 4516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" y="4398264"/>
            <a:ext cx="146304" cy="14630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24" name="Text 22"/>
          <p:cNvSpPr/>
          <p:nvPr/>
        </p:nvSpPr>
        <p:spPr>
          <a:xfrm>
            <a:off x="1325880" y="4315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PHANTORA  ·  NSDI 2026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46360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Maximizing Code Reuse in Simulation-based ML System Performance Estimation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60704" y="5202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B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Duke · Meta · Uber · NVIDIA · UC Berkeley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5166360" cy="1417320"/>
          </a:xfrm>
          <a:prstGeom prst="roundRect">
            <a:avLst>
              <a:gd name="adj" fmla="val 4516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5664" y="439826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315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8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 ·  arXiv 2605.21312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55664" y="463600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Towards Comprehensive and Accurate LLM Inference Simulation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55664" y="5202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B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CUHK · Anuttacon · StepFun   (开源: NetX-lab/Frontier)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" y="6035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汇报人：alisa      2026 年 7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23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27632" y="16276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背景与领域综述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27632" y="20116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为什么需要仿真平台 · 设计空间爆炸 · 方法谱系 · 现有方法的量化失效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195560" y="1810512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EAEFF7"/>
          </a:solidFill>
          <a:ln/>
        </p:spPr>
      </p:sp>
      <p:sp>
        <p:nvSpPr>
          <p:cNvPr id="10" name="Text 8"/>
          <p:cNvSpPr/>
          <p:nvPr/>
        </p:nvSpPr>
        <p:spPr>
          <a:xfrm>
            <a:off x="10195560" y="179222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– P6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688336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44368"/>
            <a:ext cx="512064" cy="512064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306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27632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Phantora（NSDI 2026）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27632" y="32186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simulation：让未修改的训练框架跑在“虚拟集群”上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195560" y="3017520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E6F3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95560" y="2999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 – P12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895344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151376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376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27632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Frontier（arXiv 2026）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27632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面向现代 LLM serving 形态的高保真离散事件仿真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95560" y="4224528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F7ECE8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42062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P13 – P18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510235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358384"/>
            <a:ext cx="512064" cy="512064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446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27632" y="52486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· 启示 · 总结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627632" y="563270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两条技术路线的对照，以及对我们搭建实验平台的启示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95560" y="5431536"/>
            <a:ext cx="1051560" cy="365760"/>
          </a:xfrm>
          <a:prstGeom prst="roundRect">
            <a:avLst>
              <a:gd name="adj" fmla="val 45000"/>
            </a:avLst>
          </a:prstGeom>
          <a:solidFill>
            <a:srgbClr val="F6EEDD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5413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2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P19 – P20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 ·  MOTIVATION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为什么需要“仿真实验平台”？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9893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性能估计驱动系统决策：  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并行策略选择、集群配置、硬件采购（服务系统开发者与基础设施提供商两类用户）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真实实验太贵：  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关键实验动辄需要数百上千张 GPU；论文中的调度/重配置实验均在 1024×H800 规模</a:t>
            </a:r>
            <a:endParaRPr lang="en-US" sz="13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设计空间组合爆炸：  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× 架构 × runtime 优化 × workload，人工遍历不可行</a:t>
            </a:r>
            <a:endParaRPr lang="en-US" sz="13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敏感：  </a:t>
            </a:r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配置略偏就违反 TTFT / TPOT SLA，需要在部署前可信地回答 what-if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5138928"/>
            <a:ext cx="5989320" cy="1170432"/>
          </a:xfrm>
          <a:prstGeom prst="roundRect">
            <a:avLst>
              <a:gd name="adj" fmla="val 5469"/>
            </a:avLst>
          </a:prstGeom>
          <a:solidFill>
            <a:srgbClr val="EAEFF7"/>
          </a:solidFill>
          <a:ln w="9525">
            <a:solidFill>
              <a:srgbClr val="D5DE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5138928"/>
            <a:ext cx="5486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仿真平台的承诺：</a:t>
            </a:r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 块 GPU / 纯 CPU，回答“如果部署在千卡集群上会怎样”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12280" y="1481328"/>
            <a:ext cx="482803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0" y="160934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483,536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86600" y="21031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单次部署决策的候选配置数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86600" y="237744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§6.1：256×H800 部署 Llama-3.3-70B，需从中选出满足 SLA 的最优解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12280" y="3108960"/>
            <a:ext cx="482803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323697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4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~$3,570 /小时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086600" y="37307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1024×H800 集群的租用成本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86600" y="400507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$3.49/GPU·hr 估算 —— 每一次“实测试错”都在烧钱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4736592"/>
            <a:ext cx="482803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4864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块 GPU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53583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完成千卡训练估计所需硬件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086600" y="563270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profiling 用单卡 + 32 CPU cores，无需真实集群与 trace 采集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 ·  DESIGN SPACE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要仿真的对象越来越复杂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9496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457200" cy="457200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53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35608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并行策略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/ PP / DP / EP 自由组合；attention 域与 FFN 域甚至可采用不同切分（如 tp_attn×dp_attn vs tp_ffn×ep_ffn）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6208" y="1481328"/>
            <a:ext cx="539496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1907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053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04888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Serving 架构演进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28816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Co-location（单体引擎）→ Prefill-Decode 分离（PDD，KV-cache 跨池传输）→ Attention-FFN 分离（AFD，逐层路由 activation）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621024"/>
            <a:ext cx="539496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58768"/>
            <a:ext cx="457200" cy="457200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5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35608" y="3895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优化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9536" y="442569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batching · PagedAttention · CUDA Graph · Speculative decoding (MTP) · Prefix caching · Chunked prefill —— 彼此耦合，效果非线性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3621024"/>
            <a:ext cx="539496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858768"/>
            <a:ext cx="457200" cy="457200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845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04888" y="38953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 Workload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28816" y="442569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Sparse MoE · Reasoning（隐藏思维链）· Agentic 多轮会话（tool call、session 状态）· RL rollout（突发、长尾、阶段漂移）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705856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141B2E"/>
          </a:solidFill>
          <a:ln w="9525">
            <a:solidFill>
              <a:srgbClr val="14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70585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四个维度相乘 → 组合爆炸。</a:t>
            </a:r>
            <a:pPr indent="0" marL="0">
              <a:buNone/>
            </a:pPr>
            <a:r>
              <a:rPr lang="en-US" sz="125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仿真器若只覆盖其中一角（如只建模 co-location、把优化当“加速乘数”），得到的结论可能是反的。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  ·  TAXONOMY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仿真方法谱系：五条技术路线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063240"/>
                <a:gridCol w="23774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代表系统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主要局限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解析式建模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roofline / 公式 + 算子数据库，直接算平均值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AIConfigurator (NVIDIA)、GenZ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平均化抹掉动态行为；对 CUDA Graph、MTP 等优化只能乘系数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Trace 回放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真实集群采 trace，离线离散事件回放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dPRO、Daydream、vTrain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先要有大集群；换一个配置就要重采 trace，还需“逆向”框架调度逻辑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Mock 框架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手工重写框架调度逻辑，驱动 packet-level 网络仿真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SimAI (+SimCCL / ns-3 系)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~8K 行 mock 需随框架版本同步维护；与原框架已有偏差（模型大小差 7.4%）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DES + 学习型预测器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离散事件引擎 + profile/回归得到算子延迟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Vidur、APEX、LLMServingSim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推理侧主流路线，但架构覆盖不全：普遍不支持 PDD / AFD / MoE-EP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Hybrid execution-driven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真实框架代码直接执行，时间/通信交给仿真器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Phantora（本次精读）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需要拦截框架与 GPU 栈；控制流不能依赖 tensor 数值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06440"/>
            <a:ext cx="110642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8064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网络层两种粒度：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packet-level（ns-3 / HTSim / SimCCL，精细但慢）  vs  flow-level（NetHint 系 netsim，max-min fairness，快 60–120×）；ASTRA-Sim / HTSim 常被上层仿真器作为可插拔后端复用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  ·  WHY THEY FAIL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现有仿真器的失效是可量化的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093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361688" y="1700784"/>
            <a:ext cx="1325880" cy="310896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4361688" y="1682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§2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121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 框架 ≠ 真框架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45059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SimAI 的 mocked Megatron 与原生 GPTModel 模型大小相差 7.4%；且 ~8K 行 mock 代码必须随框架演进持续维护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14630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6093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44.9% / 170%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10030968" y="1700784"/>
            <a:ext cx="1325880" cy="310896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0968" y="168249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§2/§5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10528" y="2121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延迟误差（decode-heavy）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0528" y="245059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Vidur 误差最高 44.9%（attention 算子 p95 误差 376%）；解析式 AIConfigurator 的 E2E makespan 误差最高 170%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581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32%–60%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4361688" y="3849624"/>
            <a:ext cx="1325880" cy="310896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361688" y="38313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Fig.2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Graph 的收益被整段丢失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5994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 CUDA Graph 后实测 TPOT 下降 32.3%–59.7%，解析式模型给出的却是“对 workload 不敏感”的平坦曲面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361188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37581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 反向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10030968" y="3849624"/>
            <a:ext cx="1325880" cy="310896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0968" y="38313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Fig.3/5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10528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趋势预测出现 sign-mismatch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0528" y="459943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AIConfigurator 的 MTP 公式在低 acceptance 场景 5 组中 4 组预测出相反趋势；“total−weights”显存模型高估 KV budget 最多 27.2% → 选出的“最优配置”实测违反 SLA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742432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41B2E"/>
          </a:solidFill>
          <a:ln w="9525">
            <a:solidFill>
              <a:srgbClr val="141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7424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共性根因：</a:t>
            </a:r>
            <a:pPr indent="0" marL="0">
              <a:buNone/>
            </a:pPr>
            <a:r>
              <a:rPr lang="en-US" sz="130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用“重实现 + 平均化”替代真实系统行为。两篇论文的答案殊途同归 —— 尽可能复用真实系统本身。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 ·  NSDI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07899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9933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Maximizing Code Reuse in Simulation-based ML System Performance Estimation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78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B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Qin et al. — Duke University · Meta · Uber · NVIDIA · UC Berkeley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6858000" cy="1463040"/>
          </a:xfrm>
          <a:prstGeom prst="roundRect">
            <a:avLst>
              <a:gd name="adj" fmla="val 4375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00400"/>
            <a:ext cx="6355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给未修改的 ML 训练框架制造“跑在真实 GPU 集群上”的假象（illusion）——真实框架执行 ⊕ 离散事件仿真，即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 simulation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53B3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194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Megatron：0 行修改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4937760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53B36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49194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DeepSpeed：4 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14416" y="4937760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53B36"/>
          </a:solidFill>
          <a:ln/>
        </p:spPr>
      </p:sp>
      <p:sp>
        <p:nvSpPr>
          <p:cNvPr id="13" name="Text 11"/>
          <p:cNvSpPr/>
          <p:nvPr/>
        </p:nvSpPr>
        <p:spPr>
          <a:xfrm>
            <a:off x="5614416" y="49194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D6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TorchTitan：1 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449824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C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431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SimAI mock：~8K 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18688" y="5449824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C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3218688" y="5431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硬件：1 块 GPU + 32 CPU cores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5449824"/>
            <a:ext cx="2249424" cy="384048"/>
          </a:xfrm>
          <a:prstGeom prst="roundRect">
            <a:avLst>
              <a:gd name="adj" fmla="val 45000"/>
            </a:avLst>
          </a:prstGeom>
          <a:solidFill>
            <a:srgbClr val="1C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5614416" y="54315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定位：训练侧性能估计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3200400"/>
            <a:ext cx="3246120" cy="2743200"/>
          </a:xfrm>
          <a:prstGeom prst="roundRect">
            <a:avLst>
              <a:gd name="adj" fmla="val 2333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4930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4 / 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321040" y="42793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三大训练框架各自需要修改的代码行数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21040" y="490118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“最大化代码复用”不是口号，而是系统设计目标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 · 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核心思想：让框架跑在“虚拟集群”里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不重实现，直接执行。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框架的调度逻辑、通信模式、内存行为全部来自其源代码本身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 = 模拟 GPU server。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container 内跑未修改框架的 Python 解释器，天然适配 multi-host 假设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runtime patching。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动态重定向 timer 等底层依赖（如 time.perf_counter），不碰框架源码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假象成立的条件：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控制流不依赖 tensor 数值 → 应用无法分辨自己在 Phantora 还是真集群上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1463040"/>
            <a:ext cx="658368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78308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E6F3F0"/>
          </a:solidFill>
          <a:ln w="12700">
            <a:solidFill>
              <a:srgbClr val="0E8A7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58968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 1（模拟 GPU server）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95544" y="2139696"/>
            <a:ext cx="23957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95544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未修改 ML 框架（Megatron / …）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95544" y="2670048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270662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拦截层
</a:t>
            </a:r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Tracer · Phantora CUDA Runtime · Phantora NCCL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366760" y="1783080"/>
            <a:ext cx="2697480" cy="1874520"/>
          </a:xfrm>
          <a:prstGeom prst="roundRect">
            <a:avLst>
              <a:gd name="adj" fmla="val 2927"/>
            </a:avLst>
          </a:prstGeom>
          <a:solidFill>
            <a:srgbClr val="E6F3F0"/>
          </a:solidFill>
          <a:ln w="12700">
            <a:solidFill>
              <a:srgbClr val="0E8A7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476488" y="18653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Container 2（模拟 GPU server）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13064" y="2139696"/>
            <a:ext cx="23957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3064" y="21396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未修改 ML 框架（Megatron / …）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13064" y="2670048"/>
            <a:ext cx="2395728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86216" y="270662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拦截层
</a:t>
            </a:r>
            <a:pPr algn="ct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Tracer · Phantora CUDA Runtime · Phantora NCCL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93408" y="3675888"/>
            <a:ext cx="0" cy="4572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10928" y="3675888"/>
            <a:ext cx="0" cy="45720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49240" y="4160520"/>
            <a:ext cx="5989320" cy="1051560"/>
          </a:xfrm>
          <a:prstGeom prst="roundRect">
            <a:avLst>
              <a:gd name="adj" fmla="val 5217"/>
            </a:avLst>
          </a:prstGeom>
          <a:solidFill>
            <a:srgbClr val="14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187952"/>
            <a:ext cx="5669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Simulator（Rust）   </a:t>
            </a:r>
            <a:pPr indent="0" marL="0">
              <a:buNone/>
            </a:pPr>
            <a:r>
              <a:rPr lang="en-US" sz="95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 queue（依赖图 / CUDA stream 语义）· computation simulator · netsim（flow-level 网络仿真）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49240" y="5413248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FF7E8"/>
          </a:solidFill>
          <a:ln w="12700">
            <a:solidFill>
              <a:srgbClr val="C992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541324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单块真实 GPU：</a:t>
            </a:r>
            <a:pPr indent="0" marL="0">
              <a:buNone/>
            </a:pPr>
            <a:r>
              <a:rPr lang="en-US" sz="1000" dirty="0">
                <a:solidFill>
                  <a:srgbClr val="8A62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 profile kernel 耗时（性能只依赖 shape）＋ performance estimation cache 复用结果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 ·  TECHNIQUE 1/2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多层拦截：计算、通信、时间全部“偷梁换柱”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64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19072"/>
            <a:ext cx="475488" cy="47548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053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6192" y="16093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API 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36192" y="1993392"/>
            <a:ext cx="914400" cy="310896"/>
          </a:xfrm>
          <a:prstGeom prst="roundRect">
            <a:avLst>
              <a:gd name="adj" fmla="val 45000"/>
            </a:avLst>
          </a:prstGeom>
          <a:solidFill>
            <a:srgbClr val="E6F3F0"/>
          </a:solidFill>
          <a:ln/>
        </p:spPr>
      </p:sp>
      <p:sp>
        <p:nvSpPr>
          <p:cNvPr id="9" name="Text 7"/>
          <p:cNvSpPr/>
          <p:nvPr/>
        </p:nvSpPr>
        <p:spPr>
          <a:xfrm>
            <a:off x="1536192" y="19751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Tracer 拦截绝大多数 operator，直接拿到带类型的性能相关参数（shape 等），通用性最好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1064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52928"/>
            <a:ext cx="475488" cy="47548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8392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36192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Runtime 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536192" y="3127248"/>
            <a:ext cx="914400" cy="310896"/>
          </a:xfrm>
          <a:prstGeom prst="roundRect">
            <a:avLst>
              <a:gd name="adj" fmla="val 45000"/>
            </a:avLst>
          </a:prstGeom>
          <a:solidFill>
            <a:srgbClr val="E6F3F0"/>
          </a:solidFill>
          <a:ln/>
        </p:spPr>
      </p:sp>
      <p:sp>
        <p:nvSpPr>
          <p:cNvPr id="16" name="Text 14"/>
          <p:cNvSpPr/>
          <p:nvPr/>
        </p:nvSpPr>
        <p:spPr>
          <a:xfrm>
            <a:off x="1536192" y="3108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2706624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 Phantora CUDA Runtime：不真正执行 CUDA 调用，只维护 metadata；兜底 FlashAttention 等绕过 PyTorch 的特殊算子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749040"/>
            <a:ext cx="11064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3986784"/>
            <a:ext cx="475488" cy="47548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9730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36192" y="38770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NCCL 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36192" y="4261104"/>
            <a:ext cx="914400" cy="310896"/>
          </a:xfrm>
          <a:prstGeom prst="roundRect">
            <a:avLst>
              <a:gd name="adj" fmla="val 45000"/>
            </a:avLst>
          </a:prstGeom>
          <a:solidFill>
            <a:srgbClr val="E6F3F0"/>
          </a:solidFill>
          <a:ln/>
        </p:spPr>
      </p:sp>
      <p:sp>
        <p:nvSpPr>
          <p:cNvPr id="23" name="Text 21"/>
          <p:cNvSpPr/>
          <p:nvPr/>
        </p:nvSpPr>
        <p:spPr>
          <a:xfrm>
            <a:off x="1536192" y="424281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840480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替换为 Phantora NCCL：通信不真正发生，全部转发给 simulator 的网络模型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11064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5120640"/>
            <a:ext cx="475488" cy="475488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1069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36192" y="50109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单卡 Profiling + Cache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536192" y="5394960"/>
            <a:ext cx="914400" cy="310896"/>
          </a:xfrm>
          <a:prstGeom prst="roundRect">
            <a:avLst>
              <a:gd name="adj" fmla="val 45000"/>
            </a:avLst>
          </a:prstGeom>
          <a:solidFill>
            <a:srgbClr val="E6F3F0"/>
          </a:solidFill>
          <a:ln/>
        </p:spPr>
      </p:sp>
      <p:sp>
        <p:nvSpPr>
          <p:cNvPr id="30" name="Text 28"/>
          <p:cNvSpPr/>
          <p:nvPr/>
        </p:nvSpPr>
        <p:spPr>
          <a:xfrm>
            <a:off x="1536192" y="53766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4974336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kernel 性能只依赖 shape、与 tensor 数值无关 → 单 GPU 实测一次；相同 shape 的算子直接查 performance estimation 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设计权衡：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高层拦截（PyTorch）信息全、通用；低层拦截（CUDA/NCCL）覆盖特殊路径 —— 混合使用取两者之长。实现：~9K 行 Rust + 1.8K 行 C + 500 行 C++。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 ·  TECHNIQUE 2/2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时间虚拟化 与 flow-level 网络仿真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4068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82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时间虚拟化 Time Virtualization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39696"/>
            <a:ext cx="4892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 rank 一个 virtual clock：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框架调用同步 API（如 cudaStreamSynchronize）时推入事件、等 simulator 返回逻辑时间戳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CPU time 而非 wall-clock：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超订拖慢仿真过程，但不影响估计精度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Loose sync + rollback：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真实执行与仿真时间不一致时可回滚重算 —— 关键观察：“某操作的耗时不影响控制流”，无需严格时间步同步（对比 1990s WWT 的 quantum 同步）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Garbage collection：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rank 越过时刻 T 后，T 之前的仿真状态安全丢弃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Parameter sharing：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同一模拟 server 的模型参数映射到同一块 shared memory → 64 GPU 仿真 &lt; 64GB 内存（否则 256GB 只够 9 GPU）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99632" y="1481328"/>
            <a:ext cx="544068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3952" y="16824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netsim：flow-level 网络仿真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73952" y="2139696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改编自 NetHint，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输入拓扑/端口带宽/多路径路由配置，按 max-min fairness 求每条 flow 吞吐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集合通信按 NCCL 算法建模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 ring allreduce），并支持 time rollback 重算历史网络状态</a:t>
            </a:r>
            <a:endParaRPr lang="en-US" sz="108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取舍：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不建模 congestion control / adaptive routing 的动态（packet-level 才行），换来仿真速度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73952" y="4828032"/>
            <a:ext cx="4892040" cy="1280160"/>
          </a:xfrm>
          <a:prstGeom prst="roundRect">
            <a:avLst>
              <a:gd name="adj" fmla="val 4286"/>
            </a:avLst>
          </a:prstGeom>
          <a:solidFill>
            <a:srgbClr val="E6F3F0"/>
          </a:solidFill>
          <a:ln/>
        </p:spPr>
      </p:sp>
      <p:sp>
        <p:nvSpPr>
          <p:cNvPr id="11" name="Text 9"/>
          <p:cNvSpPr/>
          <p:nvPr/>
        </p:nvSpPr>
        <p:spPr>
          <a:xfrm>
            <a:off x="6729984" y="495604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62–122× faster than SimAI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 Llama2-7B workload：Phantora ~0.9s/iter，SimAI（packet-level）57–118s/iter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 · 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评估：个位数误差，两个数量级提速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2958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91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平均误差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04672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TorchTitan · FSDP2 + AC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 128 GPU（对照 H100/A100 官方报告），最大误差 8.5%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958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1144" y="1591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平均误差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81144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Megatron · Llama2-7B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81144" y="2377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4×H200 testbed 实测对照，DP/TP/mbs 多配置，最大 5.3%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9872" y="1463040"/>
            <a:ext cx="3529584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591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平均误差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357616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DeepSpeed · 非 LLM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57616" y="2377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ResNet-50 / Stable Diffusion / GAT，8×RTX3090 对照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603504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1985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仿真速度（秒 / iteration，Llama2-7B, Megatron）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785616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真实集群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Phantora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SimAI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DP1 · TP4 · BS1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DP1 · TP4 · BS2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DP2 · TP2 · BS1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117.7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41248" y="539496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可扩展性：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Llama3-8B×128 GPU ≈ 15s/iter；“每 iter 1 分钟”预算内可仿真 ~240 GPU（&gt;100 GPU 后近似线性）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12280" y="3255264"/>
            <a:ext cx="482803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68312" y="34198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Study：吞吐 + 显存联合分析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068312" y="3822192"/>
            <a:ext cx="4343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 Megatron 论文结论：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selective activation recomputation（64×H100，DP8·TP8）大幅省显存、吞吐损失小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simulator 做不到：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无法同时给出吞吐与峰值显存（Phantora 天然捕获 PyTorch caching allocator 行为与碎片）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体验：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 输出与真实集群一致（除 loss 外），像调真实集群一样交互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8A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PHANTORA  ·  LIMITATIONS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局限与讨论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78638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55648"/>
            <a:ext cx="128016" cy="128016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3619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Value-dependent 性能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0" y="1517904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 只能按“专家完美负载均衡”仿真；RL 依赖 generation length 需人工 annotation；稀疏/量化算子可能依赖数值分布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78638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651760"/>
            <a:ext cx="128016" cy="128016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4323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控制流约束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假设控制流不依赖 tensor 值：Megatron 必须关掉 gradient clipping（它把 GPU 数据拷回 CPU 参与运算，而仿真里显存值是随机的）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255264"/>
            <a:ext cx="78638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47872"/>
            <a:ext cx="128016" cy="128016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284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Profiling 依赖目标 GPU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331012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异构集群需每种型号各备一块实卡，或使用预填的 estimation cache（均未完整实现）；评估中只能用 H200 近似 H100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4151376"/>
            <a:ext cx="78638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43984"/>
            <a:ext cx="128016" cy="128016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2245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保真度边界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420624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compute/communication overlap 的硬件资源干扰未建模；flow-level 网络不捕获拥塞控制与自适应路由动态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5047488"/>
            <a:ext cx="7863840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340096"/>
            <a:ext cx="128016" cy="128016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206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5102352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仅验证 3 个 PyTorch 系训练框架；未涉及 inference workload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0" y="1463040"/>
            <a:ext cx="2953512" cy="4892040"/>
          </a:xfrm>
          <a:prstGeom prst="roundRect">
            <a:avLst>
              <a:gd name="adj" fmla="val 2167"/>
            </a:avLst>
          </a:prstGeom>
          <a:solidFill>
            <a:srgbClr val="F7ECE8"/>
          </a:solidFill>
          <a:ln w="9525">
            <a:solidFill>
              <a:srgbClr val="EB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⇢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942832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训练侧已被覆盖，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推理侧呢？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942832" y="3200400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serving 有自己的复杂性：disaggregation、continuous batching、CUDA Graph、MTP、多轮 session……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这正是第二篇论文 Frontier 的舞台。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8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 ·  arXiv 2605.21312 (v2)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07899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9933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Towards Comprehensive and Accurate LLM Inference Simulation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4323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B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Feng et al. — CUHK · Anuttacon · StepFun    开源：github.com/NetX-lab/Frontier（基于 Vidur 重构，~70K 行 Python）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6858000" cy="1371600"/>
          </a:xfrm>
          <a:prstGeom prst="roundRect">
            <a:avLst>
              <a:gd name="adj" fmla="val 4667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17520"/>
            <a:ext cx="6355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08A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第一个把 disaggregation（PDD/AFD）、复杂并行、runtime 优化与 stateful workload 全部纳入的 LLM 推理离散事件仿真器 —— 优化被建模为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“行为改变”而非“加速乘数”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47731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42416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throughput 误差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42416" y="5614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16×H800 testbed 实测对照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07408" y="461772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47731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44.9%→6.4%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6864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延迟误差（co-location）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5614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SOTA 仿真器（ShareGPT）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91856" y="4617720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47731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51.7%→2.6%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11312" y="5321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延迟误差（PDD 分离）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11312" y="56144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可仿真 1K+ GPU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 ·  MOTIVATION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动机：推理仿真器输在“现代性”上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529584" cy="420624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236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98648" y="1810512"/>
            <a:ext cx="960120" cy="310896"/>
          </a:xfrm>
          <a:prstGeom prst="roundRect">
            <a:avLst>
              <a:gd name="adj" fmla="val 45000"/>
            </a:avLst>
          </a:prstGeom>
          <a:solidFill>
            <a:srgbClr val="F7ECE8"/>
          </a:solidFill>
          <a:ln/>
        </p:spPr>
      </p:sp>
      <p:sp>
        <p:nvSpPr>
          <p:cNvPr id="8" name="Text 6"/>
          <p:cNvSpPr/>
          <p:nvPr/>
        </p:nvSpPr>
        <p:spPr>
          <a:xfrm>
            <a:off x="2898648" y="17922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架构覆盖缺失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2761488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Vidur / APEX / AIConfigurator / LLMServingSim 均无法建模 PDD、AFD 等 disaggregated 架构；同质 replica 抽象 + 平均化 proxy 会扭曲 SLA 预测甚至反转优化结论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0292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homogeneous-replica 抽象已过时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481328"/>
            <a:ext cx="3529584" cy="420624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1737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7236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1810512"/>
            <a:ext cx="960120" cy="310896"/>
          </a:xfrm>
          <a:prstGeom prst="roundRect">
            <a:avLst>
              <a:gd name="adj" fmla="val 45000"/>
            </a:avLst>
          </a:prstGeom>
          <a:solidFill>
            <a:srgbClr val="F7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7922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Fig. 2–3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9432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优化建模失真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99432" y="2761488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Graph：实测 TPOT ↓32–60%，解析式曲面完全无感；MTP：标量期望公式抹平变长 commit 的非线性，低 acceptance 下 4/5 预测反向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9432" y="50292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“乘数思维”抓不住行为耦合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19872" y="1481328"/>
            <a:ext cx="3529584" cy="4206240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5904" y="1737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8375904" y="17236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451592" y="1810512"/>
            <a:ext cx="960120" cy="310896"/>
          </a:xfrm>
          <a:prstGeom prst="roundRect">
            <a:avLst>
              <a:gd name="adj" fmla="val 45000"/>
            </a:avLst>
          </a:prstGeom>
          <a:solidFill>
            <a:srgbClr val="F7ECE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1592" y="17922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Fig. 4–5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75904" y="23408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 / 显存失准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75904" y="2761488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Vidur token-count 预测器对 FlashAttention 平均差 32.6%；“total−weights”显存公式高估 KV budget 至 27.2%、吞吐至 32.4% → 端到端选出违反 SLA 的“最优”配置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75904" y="5029200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误差会沿决策链放大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943600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141B2E"/>
          </a:solidFill>
          <a:ln w="9525">
            <a:solidFill>
              <a:srgbClr val="141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结论：需要一个把“架构 × 优化 × workload”当作一等公民的仿真器，而不是在旧框架上打补丁。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 · 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设计：四平面架构 + disaggregated 抽象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07492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45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四平面架构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41248" y="2029968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7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048256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Workload &amp; Config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硬件 / 架构 / 并行 / runtime 选项 / 请求负载（808 个 typed CLI 选项）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651760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7ECE8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670048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Fidelity Plane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校准的算子延迟、通信、显存容量预测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273552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7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291840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 Plane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disaggregation 原语与基于依赖的控制流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895344"/>
            <a:ext cx="4526280" cy="530352"/>
          </a:xfrm>
          <a:prstGeom prst="roundRect">
            <a:avLst>
              <a:gd name="adj" fmla="val 8621"/>
            </a:avLst>
          </a:prstGeom>
          <a:solidFill>
            <a:srgbClr val="F5F7FA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91363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Plane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调度、batching、runtime adapter、跨 cluster 传输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791456"/>
            <a:ext cx="507492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五类显式依赖事件（DES 引擎）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5248656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pipeline stage 严格链   ② KV-cache 传输（PDD 交接）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M2NTransfer（AFD 逐层 activation 流水）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AllToAllCombineReady（MoE-EP 同步 barrier）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ThinkingRequeue（多轮 session 重新入队）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70448" y="1481328"/>
            <a:ext cx="5760720" cy="4882896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645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Disaggregated 抽象：Cluster Worker（角色）⊃ Replica Worker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44768" y="21762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0" y="212140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31497A"/>
          </a:solidFill>
          <a:ln/>
        </p:spPr>
      </p:sp>
      <p:sp>
        <p:nvSpPr>
          <p:cNvPr id="21" name="Text 19"/>
          <p:cNvSpPr/>
          <p:nvPr/>
        </p:nvSpPr>
        <p:spPr>
          <a:xfrm>
            <a:off x="7626096" y="21214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C：Prefill + Decode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8952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单体引擎，两阶段共享 GPU 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44768" y="35935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353872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7626096" y="3538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P：Prefill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61120" y="353872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31497A"/>
          </a:solidFill>
          <a:ln/>
        </p:spPr>
      </p:sp>
      <p:sp>
        <p:nvSpPr>
          <p:cNvPr id="27" name="Text 25"/>
          <p:cNvSpPr/>
          <p:nvPr/>
        </p:nvSpPr>
        <p:spPr>
          <a:xfrm>
            <a:off x="8997696" y="35387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D：Decode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33104" y="3867912"/>
            <a:ext cx="128016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5895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KV-cache 跨池传输：P → 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501091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495604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7626096" y="49560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P：Prefill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61120" y="495604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C99235"/>
          </a:solidFill>
          <a:ln/>
        </p:spPr>
      </p:sp>
      <p:sp>
        <p:nvSpPr>
          <p:cNvPr id="34" name="Text 32"/>
          <p:cNvSpPr/>
          <p:nvPr/>
        </p:nvSpPr>
        <p:spPr>
          <a:xfrm>
            <a:off x="8997696" y="49560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A：Attention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33104" y="5285232"/>
            <a:ext cx="128016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headEnd type="triangl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332720" y="4956048"/>
            <a:ext cx="1243584" cy="658368"/>
          </a:xfrm>
          <a:prstGeom prst="roundRect">
            <a:avLst>
              <a:gd name="adj" fmla="val 6944"/>
            </a:avLst>
          </a:prstGeom>
          <a:solidFill>
            <a:srgbClr val="0E8A7B"/>
          </a:solidFill>
          <a:ln/>
        </p:spPr>
      </p:sp>
      <p:sp>
        <p:nvSpPr>
          <p:cNvPr id="37" name="Text 35"/>
          <p:cNvSpPr/>
          <p:nvPr/>
        </p:nvSpPr>
        <p:spPr>
          <a:xfrm>
            <a:off x="10369296" y="49560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F：FFN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204704" y="5285232"/>
            <a:ext cx="128016" cy="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58952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期 A ⇄ F 逐层互传 activation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4768" y="577900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并行两域独立分解：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域 (pp·tp_attn·dp_attn) 与 FFN 域 (pp·tp_ffn·ep_ffn) 分别映射到各角色 → 一套抽象覆盖 C / PDD / AFD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 ·  TECHNIQUES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保真度从哪里来：四个关键设计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64208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504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7007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校准的算子预测器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4864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按算子类别分层建模：token-count 类（GEMM 等）→ 线性/随机森林；attention → RF + per-request 长度分布特征；MoE → RF + 负载均衡统计。单卡 ex-situ profiling，区分 kernel-only 与 launch-inclusive 两种测量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841248" y="329184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attention 算子 p50 误差 3.5%（Vidur：55.4%）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36208" y="1463040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664208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6504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0" y="17007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Adapters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0528" y="2139696"/>
            <a:ext cx="4864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 = 行为改变，不是加速乘数。CUDA Graph：pad 到已 capture 尺寸 + 切换 kernel-only 计时（padding 膨胀与 replay 加速耦合建模）；MTP：per-request draft→verify→commit 状态机；prefix caching / chunked prefill 同理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6510528" y="329184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CUDA Graph decode 加速比与 vLLM 差距 ≤1.7%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66928" y="3858768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059936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0462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Scheduler 逻辑复用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535424"/>
            <a:ext cx="4864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/ SGLang 的调度逻辑原样移植，只重接 I/O：请求由仿真到达喂入、batch 由 DES 消费、显存读仿真 KV 计数器 —— 与 Phantora “复用真实代码”异曲同工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41248" y="568756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 vLLM watermark preemption、SGLang admission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236208" y="3858768"/>
            <a:ext cx="5394960" cy="221284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4059936"/>
            <a:ext cx="420624" cy="42062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40462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4096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 Session 建模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0528" y="4535424"/>
            <a:ext cx="4864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请求携带多轮状态：reasoning 轮数、tool 延迟、每轮 token 计划、对同一 replica 的亲和（保证跨轮 prefix-cache 命中）；轮间以 ThinkingRequeue 重新入队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6510528" y="5687568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prefix cache 命中率与 vLLM 精确一致（36.98%）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58368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</a:t>
            </a:r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通信后端可插拔（ASTRA-Sim / HTSim，按域规模动态选择）；显存用 dummy-run profiling 得 KV budget（误差 ≤1.89%，解析式高报 14–40%）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 · 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评估：三种架构全线个位数误差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Testbed：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16×H800-SXM（NVLink 400GB/s + NDR IB）   模型：Llama-3.1-8B（dense）· Qwen3-30B（MoE）· Step3-316B   Workload：prefill-heavy / decode-heavy / balanced / ShareGPT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60350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对真实 vLLM 部署的误差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432304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243230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个 case 全部 ≤9.37%；TPOT-p95 / makespan 几乎全 ≤6.4%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41248" y="3163824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AFBFD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20040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320040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项指标全部 ≤10.99%，其中 20/32 误差 &lt;3%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393192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96849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51760" y="396849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TPOT ≤6.4%、throughput ≤7.0%；decode-heavy 下 TPOT ≤1.0%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" y="4700016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AFBFD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73659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KV-cache budget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473659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种并行配置下与 vLLM 差 ≤1.89%（解析式高报 14.1–39.7%）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" y="5468112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5F7FA"/>
          </a:solidFill>
          <a:ln w="6350">
            <a:solidFill>
              <a:srgbClr val="E2E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50468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优化保真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1760" y="5504688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Graph 加速比差 ≤1.7%；MTP 各指标 ≤11.3%；prefix 命中率精确一致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828800"/>
            <a:ext cx="4828032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9933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baseline 仿真器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68312" y="2432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Vidur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68312" y="2706624"/>
            <a:ext cx="4315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co-location 误差 2.9–45.5%；attention p95 误差 376.1%；不支持 PDD / AFD / MoE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68312" y="3401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AIConfigurator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68312" y="3675888"/>
            <a:ext cx="4315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makespan 误差最高 170%（decode-heavy）/ 135.3%（MoE）；MTP 趋势反向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68312" y="4370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APEX / LLMServingSim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68312" y="4645152"/>
            <a:ext cx="4315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 disaggregated 架构，无法参与 PDD/AFD 对比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68312" y="5440680"/>
            <a:ext cx="4315968" cy="749808"/>
          </a:xfrm>
          <a:prstGeom prst="roundRect">
            <a:avLst>
              <a:gd name="adj" fmla="val 7317"/>
            </a:avLst>
          </a:prstGeom>
          <a:solidFill>
            <a:srgbClr val="F7ECE8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54406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规模：</a:t>
            </a:r>
            <a:pPr indent="0" marL="0">
              <a:buNone/>
            </a:pPr>
            <a:r>
              <a:rPr lang="en-US" sz="10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CPU 仿真至 1024 GPU 部署（use case 实测）；无显式 wall-clock 加速比报告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 ·  USE CASES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仿真平台能做什么：四个千卡级 what-if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27632"/>
            <a:ext cx="420624" cy="42062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139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642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感知配置搜索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256×H800 · Llama-3.3-70B：483,536 个候选中筛出 496 个满足 SLA。宽松 TTFT 下 PDD 最优（137.4K tok/s）；TTFT ≤500ms 时 AFD（116.2K）反超 PDD（100.7K）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316382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架构优劣是 SLA 依赖的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6208" y="1426464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1627632"/>
            <a:ext cx="420624" cy="42062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6139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66420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 GPU 分配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0528" y="2084832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1024 GPU · Qwen3-235B：H20 放 attention 角色 → 成本效率 1.12×；放 compute-bound 的 FFN 角色则被拒。总体收益 1.12–1.65×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0528" y="316382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收益取决于 role 级瓶颈匹配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895344"/>
            <a:ext cx="420624" cy="42062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81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Stateful 调度原型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352544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Llama-3.1-405B · 1024×H800 · 多轮 agentic reasoning：自研 phase-aware H2Q-BR 调度器 p95 aTTFT ↓30.4%、hidden-planning 吞吐 +23.2%（FastServe 基线仅 1.45%）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543153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新调度算法先在仿真里验证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6208" y="3694176"/>
            <a:ext cx="539496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3895344"/>
            <a:ext cx="420624" cy="420624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38816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931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rollout 动态重配置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10528" y="4352544"/>
            <a:ext cx="4864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4000 条 trajectory burst（5% 长尾）：活跃数降至 10% 时从 DP32·TP2 切到 DP8·TP8（切换成本已建模），makespan 528.8s → 259.1s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543153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2.04× 加速，免去千卡实测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6053328"/>
            <a:ext cx="11064240" cy="502920"/>
          </a:xfrm>
          <a:prstGeom prst="roundRect">
            <a:avLst>
              <a:gd name="adj" fmla="val 12727"/>
            </a:avLst>
          </a:prstGeom>
          <a:solidFill>
            <a:srgbClr val="141B2E"/>
          </a:solidFill>
          <a:ln w="9525">
            <a:solidFill>
              <a:srgbClr val="141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053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仿真平台的真正价值：把“架构选型、异构采购、调度算法、弹性策略”变成可以反复做的桌面实验。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两条路线对照：殊途同归的“复用真实系统”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17720"/>
                <a:gridCol w="4617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8A7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Phantora（NSDI'26）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Frontier（arXiv'26）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分布式训练性能估计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 serving（C / PDD / AFD）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Hybrid execution-driven：真实框架代码在容器内原样执行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 + 校准预测器 + 真实 scheduler 逻辑移植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复用真实系统的方式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整个框架源码（拦截 CUDA/NCCL/时间）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移植 vLLM/SGLang 调度逻辑 + profile 真实 kernel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硬件门槛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块目标 GPU + 32 CPU cores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profiling 单卡；之后纯 CPU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 2.9–6.6%（vs 实测/官方报告）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 &lt;4%；E2E 2.6–6.4%（vs vLLM）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~240 GPU（1 min/iter 预算内）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1K+ GPU 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网络仿真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自带 flow-level netsim（NetHint 系）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可插拔 ASTRA-Sim / HTSim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盲区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value-dependent（MoE 失衡、RL 长度）；无推理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7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 vLLM 为主校准；CPU 开销建模欠鲁棒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1500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AEFF7"/>
          </a:solidFill>
          <a:ln w="9525">
            <a:solidFill>
              <a:srgbClr val="D5DE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71500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49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共同信条：</a:t>
            </a:r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保真度来自复用真实系统的代码与行为（框架源码 / 调度逻辑 / 实测 kernel），而不是重实现；成本控制来自“单卡 profiling + 离散事件仿真”。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总结与启示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61320" cy="1024128"/>
          </a:xfrm>
          <a:prstGeom prst="roundRect">
            <a:avLst>
              <a:gd name="adj" fmla="val 6250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965960"/>
            <a:ext cx="457200" cy="457200"/>
          </a:xfrm>
          <a:prstGeom prst="ellipse">
            <a:avLst/>
          </a:prstGeom>
          <a:solidFill>
            <a:srgbClr val="0E8A7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9522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80136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仿真已能支撑可信决策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167128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个位数误差 + 千卡规模 + 单卡成本：训练侧（Phantora 2.9–6.6%）与推理侧（Frontier &lt;4% 吞吐误差）都已跨过“能用”门槛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10561320" cy="1024128"/>
          </a:xfrm>
          <a:prstGeom prst="roundRect">
            <a:avLst>
              <a:gd name="adj" fmla="val 6250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3154680"/>
            <a:ext cx="457200" cy="457200"/>
          </a:xfrm>
          <a:prstGeom prst="ellipse">
            <a:avLst/>
          </a:prstGeom>
          <a:solidFill>
            <a:srgbClr val="C99235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1409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99008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方法论上的两个关键词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83080" y="3355848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复用（框架源码 / 调度逻辑 / 实测 kernel，拒绝重实现）与 行为建模（优化是行为改变，不是加速乘数；平均化是误差之源）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61320" cy="1024128"/>
          </a:xfrm>
          <a:prstGeom prst="roundRect">
            <a:avLst>
              <a:gd name="adj" fmla="val 6250"/>
            </a:avLst>
          </a:prstGeom>
          <a:solidFill>
            <a:srgbClr val="1C2540"/>
          </a:solidFill>
          <a:ln w="9525">
            <a:solidFill>
              <a:srgbClr val="2E3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" y="43434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3296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83080" y="417880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对我们搭建实验平台的启示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83080" y="4544568"/>
            <a:ext cx="9326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9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推理侧可直接基于开源 Frontier（Vidur 系,~70K LoC）起步：先复现 vLLM 校准，再扩展自己的调度/架构实验；训练侧关注 Phantora 的拦截思路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AF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开放问题：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6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训练与推理仿真的统一 · value-dependent workload（MoE 失衡 / RL 生成长度）· flow-level 与 packet-level 网络保真度的折中 · 跨引擎（SGLang / TensorRT-LLM）与未来硬件的校准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6172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参考： [1] Qin et al., Phantora, NSDI 2026 (usenix.org/system/files/nsdi26-qin.pdf)    [2] Feng et al., Frontier, arXiv:2605.21312 (github.com/NetX-lab/Frontier)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谢谢，欢迎讨论！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11712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2026-07-26T06:53:56Z</dcterms:created>
  <dcterms:modified xsi:type="dcterms:W3CDTF">2026-07-26T06:53:56Z</dcterms:modified>
</cp:coreProperties>
</file>